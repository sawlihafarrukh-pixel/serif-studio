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12191695" cy="265176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6000" b="1" i="0">
                <a:solidFill>
                  <a:srgbClr val="F6F3EC"/>
                </a:solidFill>
                <a:latin typeface="Calibri"/>
              </a:rPr>
              <a:t>Tadabbur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2400" b="0" i="1">
                <a:solidFill>
                  <a:srgbClr val="D9CBB0"/>
                </a:solidFill>
                <a:latin typeface="Calibri"/>
              </a:rPr>
              <a:t>reflecting on the Qur’an — and letting it change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83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6B6B6B"/>
                </a:solidFill>
                <a:latin typeface="Calibri"/>
              </a:rPr>
              <a:t>A short talk based on the chapter from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F3A34"/>
                </a:solidFill>
                <a:latin typeface="Calibri"/>
              </a:rPr>
              <a:t>“Befriending the Qur’an” — Ayesha Syahira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194560"/>
            <a:ext cx="128016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F3A34"/>
                </a:solidFill>
                <a:latin typeface="Calibri"/>
              </a:rPr>
              <a:t>You finish a whole juz’…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3000" b="0" i="1">
                <a:solidFill>
                  <a:srgbClr val="2B2B2B"/>
                </a:solidFill>
                <a:latin typeface="Calibri"/>
              </a:rPr>
              <a:t>…and a minute later, you couldn’t say what it was about.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B97A3E"/>
                </a:solidFill>
                <a:latin typeface="Calibri"/>
              </a:rPr>
              <a:t>Sound familiar?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932688" y="1874519"/>
            <a:ext cx="128016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6B6B6B"/>
                </a:solidFill>
                <a:latin typeface="Calibri"/>
              </a:rPr>
              <a:t>Reciting is not the same as understanding. That gap is what tadabbur is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F3A34"/>
                </a:solidFill>
                <a:latin typeface="Calibri"/>
              </a:rPr>
              <a:t>Why reflect at 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4000" b="0">
                <a:solidFill>
                  <a:srgbClr val="1F3A34"/>
                </a:solidFill>
                <a:latin typeface="Geeza Pro"/>
                <a:cs typeface="Geeza Pro"/>
              </a:rPr>
              <a:t>أَفَلَا يَتَدَبَّرُونَ الْقُرْآنَ أَمْ عَلَىٰ قُلُوبٍ أَقْفَالُهَا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0" i="1">
                <a:solidFill>
                  <a:srgbClr val="2B2B2B"/>
                </a:solidFill>
                <a:latin typeface="Calibri"/>
              </a:rPr>
              <a:t>“Then do they not reflect upon the Qur’an,
or are there locks upon [their] hearts?”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B97A3E"/>
                </a:solidFill>
                <a:latin typeface="Calibri"/>
              </a:rPr>
              <a:t>— Muhammad 47:24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6B6B6B"/>
                </a:solidFill>
                <a:latin typeface="Calibri"/>
              </a:rPr>
              <a:t>We aren’t asked only to recite the Qur’an — we’re asked to ponder it. Reflection is what turns reading into a relationship.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F3A34"/>
                </a:solidFill>
                <a:latin typeface="Calibri"/>
              </a:rPr>
              <a:t>And it holds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3400" b="0">
                <a:solidFill>
                  <a:srgbClr val="1F3A34"/>
                </a:solidFill>
                <a:latin typeface="Geeza Pro"/>
                <a:cs typeface="Geeza Pro"/>
              </a:rPr>
              <a:t>أَفَلَا يَتَدَبَّرُونَ الْقُرْآنَ ۚ وَلَوْ كَانَ مِنْ عِندِ غَيْرِ اللَّهِ لَوَجَدُوا فِيهِ اخْتِلَافًا كَثِيرًا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1">
                <a:solidFill>
                  <a:srgbClr val="2B2B2B"/>
                </a:solidFill>
                <a:latin typeface="Calibri"/>
              </a:rPr>
              <a:t>“Then do they not reflect upon the Qur’an? If it had been from [any] other than Allah, they would have found within it much contradiction.”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B97A3E"/>
                </a:solidFill>
                <a:latin typeface="Calibri"/>
              </a:rPr>
              <a:t>— an-Nisa 4:82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6B6B6B"/>
                </a:solidFill>
                <a:latin typeface="Calibri"/>
              </a:rPr>
              <a:t>Reflection doesn’t just deepen faith — it’s where the Qur’an proves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F3A34"/>
                </a:solidFill>
                <a:latin typeface="Calibri"/>
              </a:rPr>
              <a:t>What is tadabbur?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2B2B2B"/>
                </a:solidFill>
                <a:latin typeface="Calibri"/>
              </a:rPr>
              <a:t>Tadabbur means pondering and reflecting upon the Qur’an — </a:t>
            </a:r>
            <a:r>
              <a:rPr sz="2200" b="0" i="1">
                <a:solidFill>
                  <a:srgbClr val="2B2B2B"/>
                </a:solidFill>
                <a:latin typeface="Calibri"/>
              </a:rPr>
              <a:t>thinking deeply about the meaning of the aayaat and how they relate to your own life.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1F3A34"/>
                </a:solidFill>
                <a:latin typeface="Calibri"/>
              </a:rPr>
              <a:t>Two things to hold onto: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the Qur’an’s own word — yatadabbaroon, “do they not reflect?” — is a question. An invitation.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the goal isn’t just to know the aayah — it’s to be moved by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F3A34"/>
                </a:solidFill>
                <a:latin typeface="Calibri"/>
              </a:rPr>
              <a:t>Five principles for seeking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6B6B6B"/>
                </a:solidFill>
                <a:latin typeface="Calibri"/>
              </a:rPr>
              <a:t>The author’s posture for seeking knowledge — the ground tadabbur grows from.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4028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A34"/>
                </a:solidFill>
                <a:latin typeface="Calibri"/>
              </a:rPr>
              <a:t>Set sincere intentions</a:t>
            </a:r>
          </a:p>
          <a:p>
            <a:r>
              <a:rPr sz="1400" b="0" i="0">
                <a:solidFill>
                  <a:srgbClr val="6B6B6B"/>
                </a:solidFill>
                <a:latin typeface="Calibri"/>
              </a:rPr>
              <a:t>tie every intention back to Allah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035808"/>
            <a:ext cx="548640" cy="548640"/>
          </a:xfrm>
          <a:prstGeom prst="ellipse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90088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A34"/>
                </a:solidFill>
                <a:latin typeface="Calibri"/>
              </a:rPr>
              <a:t>Keep an open mind</a:t>
            </a:r>
          </a:p>
          <a:p>
            <a:r>
              <a:rPr sz="1400" b="0" i="0">
                <a:solidFill>
                  <a:srgbClr val="6B6B6B"/>
                </a:solidFill>
                <a:latin typeface="Calibri"/>
              </a:rPr>
              <a:t>empty the cup; stay humble and ready to learn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785616"/>
            <a:ext cx="548640" cy="548640"/>
          </a:xfrm>
          <a:prstGeom prst="ellipse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39896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A34"/>
                </a:solidFill>
                <a:latin typeface="Calibri"/>
              </a:rPr>
              <a:t>Have an action plan</a:t>
            </a:r>
          </a:p>
          <a:p>
            <a:r>
              <a:rPr sz="1400" b="0" i="0">
                <a:solidFill>
                  <a:srgbClr val="6B6B6B"/>
                </a:solidFill>
                <a:latin typeface="Calibri"/>
              </a:rPr>
              <a:t>knowledge is meant to be lived, not stored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535424"/>
            <a:ext cx="548640" cy="548640"/>
          </a:xfrm>
          <a:prstGeom prst="ellipse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489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A34"/>
                </a:solidFill>
                <a:latin typeface="Calibri"/>
              </a:rPr>
              <a:t>Revise &amp; pass it on</a:t>
            </a:r>
          </a:p>
          <a:p>
            <a:r>
              <a:rPr sz="1400" b="0" i="0">
                <a:solidFill>
                  <a:srgbClr val="6B6B6B"/>
                </a:solidFill>
                <a:latin typeface="Calibri"/>
              </a:rPr>
              <a:t>review your notes; share what you’ve learned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285232"/>
            <a:ext cx="548640" cy="548640"/>
          </a:xfrm>
          <a:prstGeom prst="ellipse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239512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A34"/>
                </a:solidFill>
                <a:latin typeface="Calibri"/>
              </a:rPr>
              <a:t>Don’t give up</a:t>
            </a:r>
          </a:p>
          <a:p>
            <a:r>
              <a:rPr sz="1400" b="0" i="0">
                <a:solidFill>
                  <a:srgbClr val="6B6B6B"/>
                </a:solidFill>
                <a:latin typeface="Calibri"/>
              </a:rPr>
              <a:t>the journey is long — keep going, ask Allah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69680" y="5486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5000" b="1" i="0">
                <a:solidFill>
                  <a:srgbClr val="E7DFD2"/>
                </a:solidFill>
                <a:latin typeface="Calibr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B97A3E"/>
                </a:solidFill>
                <a:latin typeface="Calibri"/>
              </a:rPr>
              <a:t>PRINCIPLE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F3A34"/>
                </a:solidFill>
                <a:latin typeface="Calibri"/>
              </a:rPr>
              <a:t>Set sincere intentions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1">
                <a:solidFill>
                  <a:srgbClr val="B97A3E"/>
                </a:solidFill>
                <a:latin typeface="Calibri"/>
              </a:rPr>
              <a:t>Before you seek knowledge, fix why you’re seeking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8778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Tie your intention back to Allah — not to praise, status or habit.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A sincere intention turns ordinary study into worship.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69680" y="5486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5000" b="1" i="0">
                <a:solidFill>
                  <a:srgbClr val="E7DFD2"/>
                </a:solidFill>
                <a:latin typeface="Calibri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B97A3E"/>
                </a:solidFill>
                <a:latin typeface="Calibri"/>
              </a:rPr>
              <a:t>PRINCIPLE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F3A34"/>
                </a:solidFill>
                <a:latin typeface="Calibri"/>
              </a:rPr>
              <a:t>Keep an open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1">
                <a:solidFill>
                  <a:srgbClr val="B97A3E"/>
                </a:solidFill>
                <a:latin typeface="Calibri"/>
              </a:rPr>
              <a:t>Come to the Qur’an ready to be taught.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8778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Humble yourself — empty the cup before you try to fill it.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Be willing to trade an old understanding for a truer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69680" y="5486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5000" b="1" i="0">
                <a:solidFill>
                  <a:srgbClr val="E7DFD2"/>
                </a:solidFill>
                <a:latin typeface="Calibri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B97A3E"/>
                </a:solidFill>
                <a:latin typeface="Calibri"/>
              </a:rPr>
              <a:t>PRINCIPLE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F3A34"/>
                </a:solidFill>
                <a:latin typeface="Calibri"/>
              </a:rPr>
              <a:t>Have an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1">
                <a:solidFill>
                  <a:srgbClr val="B97A3E"/>
                </a:solidFill>
                <a:latin typeface="Calibri"/>
              </a:rPr>
              <a:t>Knowledge that isn’t acted on isn’t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8778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For every reflection, ask: what will I actually do?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Action is what brings the learning to fruition.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69680" y="5486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5000" b="1" i="0">
                <a:solidFill>
                  <a:srgbClr val="E7DFD2"/>
                </a:solidFill>
                <a:latin typeface="Calibri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B97A3E"/>
                </a:solidFill>
                <a:latin typeface="Calibri"/>
              </a:rPr>
              <a:t>PRINCIPLE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F3A34"/>
                </a:solidFill>
                <a:latin typeface="Calibri"/>
              </a:rPr>
              <a:t>Revise what you’ve learned — and pass it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1">
                <a:solidFill>
                  <a:srgbClr val="B97A3E"/>
                </a:solidFill>
                <a:latin typeface="Calibri"/>
              </a:rPr>
              <a:t>Protect knowledge by revisiting and sharing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8778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Notes fade from memory — revise so they don’t fade away.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Teaching others completes the circle and deepens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69680" y="5486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5000" b="1" i="0">
                <a:solidFill>
                  <a:srgbClr val="E7DFD2"/>
                </a:solidFill>
                <a:latin typeface="Calibri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B97A3E"/>
                </a:solidFill>
                <a:latin typeface="Calibri"/>
              </a:rPr>
              <a:t>PRINCIPLE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F3A34"/>
                </a:solidFill>
                <a:latin typeface="Calibri"/>
              </a:rPr>
              <a:t>Don’t give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1">
                <a:solidFill>
                  <a:srgbClr val="B97A3E"/>
                </a:solidFill>
                <a:latin typeface="Calibri"/>
              </a:rPr>
              <a:t>Some days nothing lands. This is for those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8778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Don’t let doubt make the knowledge melt away.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Ask Allah for barakah; keep pulling yourself closer to Him.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F3A34"/>
                </a:solidFill>
                <a:latin typeface="Calibri"/>
              </a:rPr>
              <a:t>How to do your tadabbur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6B6B6B"/>
                </a:solidFill>
                <a:latin typeface="Calibri"/>
              </a:rPr>
              <a:t>A simple four-column note for each aayah you reflect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254203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560320"/>
            <a:ext cx="502920" cy="502920"/>
          </a:xfrm>
          <a:prstGeom prst="ellipse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6F3EC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291840"/>
            <a:ext cx="21396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F3A34"/>
                </a:solidFill>
                <a:latin typeface="Calibri"/>
              </a:rPr>
              <a:t>Write the aayah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Write the aayah and its meaning. In time, learn it in Arabic too.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2331720"/>
            <a:ext cx="254203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58184" y="2560320"/>
            <a:ext cx="502920" cy="502920"/>
          </a:xfrm>
          <a:prstGeom prst="ellipse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6F3EC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3291840"/>
            <a:ext cx="21396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F3A34"/>
                </a:solidFill>
                <a:latin typeface="Calibri"/>
              </a:rPr>
              <a:t>Reflect &amp; relate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Who is it addressing? What does it teach? How does it relate to your life right now?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331720"/>
            <a:ext cx="254203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64808" y="2560320"/>
            <a:ext cx="502920" cy="502920"/>
          </a:xfrm>
          <a:prstGeom prst="ellipse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6F3EC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3291840"/>
            <a:ext cx="21396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F3A34"/>
                </a:solidFill>
                <a:latin typeface="Calibri"/>
              </a:rPr>
              <a:t>Action plan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Turn the reflection into practice — one concrete thing you’ll 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331720"/>
            <a:ext cx="254203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71432" y="2560320"/>
            <a:ext cx="502920" cy="502920"/>
          </a:xfrm>
          <a:prstGeom prst="ellipse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6F3EC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291840"/>
            <a:ext cx="21396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F3A34"/>
                </a:solidFill>
                <a:latin typeface="Calibri"/>
              </a:rPr>
              <a:t>Du’aa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Close by asking Allah — a du’aa inspired by the aayah.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704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1">
                <a:solidFill>
                  <a:srgbClr val="B97A3E"/>
                </a:solidFill>
                <a:latin typeface="Calibri"/>
              </a:rPr>
              <a:t>Try it now: take one aayah you read this week and run it through the four columns.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F3A34"/>
                </a:solidFill>
                <a:latin typeface="Calibri"/>
              </a:rPr>
              <a:t>Make notes you’ll come back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800" b="1" i="0">
                <a:solidFill>
                  <a:srgbClr val="2B2B2B"/>
                </a:solidFill>
                <a:latin typeface="Calibri"/>
              </a:rPr>
              <a:t>Don’t just write — decorate.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1">
                <a:solidFill>
                  <a:srgbClr val="6B6B6B"/>
                </a:solidFill>
                <a:latin typeface="Calibri"/>
              </a:rPr>
              <a:t>Colour and care make notes you’ll actually reread — and the writing itself is therapeutic. Notes you enjoy are notes you return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00584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F3A34"/>
                </a:solidFill>
                <a:latin typeface="Calibri"/>
              </a:rPr>
              <a:t>Turn it into a rhythm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6B6B6B"/>
                </a:solidFill>
                <a:latin typeface="Calibri"/>
              </a:rPr>
              <a:t>Set Qur’an goals across several phases — small habits that compound.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86000"/>
            <a:ext cx="2194560" cy="603504"/>
          </a:xfrm>
          <a:prstGeom prst="round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6F3EC"/>
                </a:solidFill>
                <a:latin typeface="Calibri"/>
              </a:rPr>
              <a:t>Daily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35000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A set number of pages, with a few minutes for tadabbur.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072384"/>
            <a:ext cx="2194560" cy="603504"/>
          </a:xfrm>
          <a:prstGeom prst="round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6F3EC"/>
                </a:solidFill>
                <a:latin typeface="Calibri"/>
              </a:rPr>
              <a:t>Weekly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1363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A class or lecture that explains what you’re reading.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58768"/>
            <a:ext cx="2194560" cy="603504"/>
          </a:xfrm>
          <a:prstGeom prst="round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6F3EC"/>
                </a:solidFill>
                <a:latin typeface="Calibri"/>
              </a:rPr>
              <a:t>Monthly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922776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A bigger goal — e.g. a surah to learn or memorise.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645152"/>
            <a:ext cx="2194560" cy="603504"/>
          </a:xfrm>
          <a:prstGeom prst="round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6F3EC"/>
                </a:solidFill>
                <a:latin typeface="Calibri"/>
              </a:rPr>
              <a:t>Yearly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709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The big aim that all the smaller goals add up 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431536"/>
            <a:ext cx="2194560" cy="603504"/>
          </a:xfrm>
          <a:prstGeom prst="round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6F3EC"/>
                </a:solidFill>
                <a:latin typeface="Calibri"/>
              </a:rPr>
              <a:t>Ramadhan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495544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Build on the habit and push for more in the blessed month.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Tadabbur — reflecting on the Qur’an  ·  after Ayesha Syahira, “Befriending the Qur’an”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28016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4600" b="1" i="0">
                <a:solidFill>
                  <a:srgbClr val="F6F3EC"/>
                </a:solidFill>
                <a:latin typeface="Calibri"/>
              </a:rPr>
              <a:t>Read less, reflect more.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0" i="1">
                <a:solidFill>
                  <a:srgbClr val="D9CBB0"/>
                </a:solidFill>
                <a:latin typeface="Calibri"/>
              </a:rPr>
              <a:t>One aayah. One reflection. One action. One du’aa.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FA086"/>
                </a:solidFill>
                <a:latin typeface="Calibri"/>
              </a:rPr>
              <a:t>based on “Befriending the Qur’an” — Ayesha Syahira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1F3A34"/>
                </a:solidFill>
                <a:latin typeface="Calibri"/>
              </a:rPr>
              <a:t>Shukran — thank you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2000" b="0" i="1">
                <a:solidFill>
                  <a:srgbClr val="6B6B6B"/>
                </a:solidFill>
                <a:latin typeface="Calibri"/>
              </a:rPr>
              <a:t>May Allah make us among those who reflect, and act.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3977639"/>
            <a:ext cx="1188720" cy="63500"/>
          </a:xfrm>
          <a:prstGeom prst="rect">
            <a:avLst/>
          </a:prstGeom>
          <a:solidFill>
            <a:srgbClr val="B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34"/>
                </a:solidFill>
                <a:latin typeface="Calibri"/>
              </a:rPr>
              <a:t>Start tonight: one aayah, the four columns.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Read more: “Befriending the Qur’an” — Ayesha Syahira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